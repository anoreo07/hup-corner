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oleObject" PartName="/ppt/embeddings/oleObject3.bin"/>
  <Override ContentType="application/vnd.openxmlformats-officedocument.oleObject" PartName="/ppt/embeddings/oleObject6.bin"/>
  <Override ContentType="application/vnd.openxmlformats-officedocument.oleObject" PartName="/ppt/embeddings/oleObject5.bin"/>
  <Override ContentType="application/vnd.openxmlformats-officedocument.oleObject" PartName="/ppt/embeddings/oleObject4.bin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embeddedFontLst>
    <p:embeddedFont>
      <p:font typeface="Tahoma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1" roundtripDataSignature="AMtx7mh/b3ifeRmT2v7TK+wSvu4GJskF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Tahoma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Tahoma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3.v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.png"/></Relationships>
</file>

<file path=ppt/drawings/_rels/vmlDrawing4.v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5.v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2.bin"/><Relationship Id="rId5" Type="http://schemas.openxmlformats.org/officeDocument/2006/relationships/oleObject" Target="../embeddings/oleObject2.bin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vmlDrawing" Target="../drawings/vmlDrawing3.vml"/><Relationship Id="rId4" Type="http://schemas.openxmlformats.org/officeDocument/2006/relationships/oleObject" Target="../embeddings/oleObject3.bin"/><Relationship Id="rId9" Type="http://schemas.openxmlformats.org/officeDocument/2006/relationships/image" Target="../media/image1.png"/><Relationship Id="rId5" Type="http://schemas.openxmlformats.org/officeDocument/2006/relationships/oleObject" Target="../embeddings/oleObject3.bin"/><Relationship Id="rId6" Type="http://schemas.openxmlformats.org/officeDocument/2006/relationships/image" Target="../media/image4.png"/><Relationship Id="rId7" Type="http://schemas.openxmlformats.org/officeDocument/2006/relationships/oleObject" Target="../embeddings/oleObject4.bin"/><Relationship Id="rId8" Type="http://schemas.openxmlformats.org/officeDocument/2006/relationships/oleObject" Target="../embeddings/oleObject4.bin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vmlDrawing" Target="../drawings/vmlDrawing4.vml"/><Relationship Id="rId4" Type="http://schemas.openxmlformats.org/officeDocument/2006/relationships/oleObject" Target="../embeddings/oleObject5.bin"/><Relationship Id="rId5" Type="http://schemas.openxmlformats.org/officeDocument/2006/relationships/oleObject" Target="../embeddings/oleObject5.bin"/><Relationship Id="rId6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vmlDrawing" Target="../drawings/vmlDrawing5.vml"/><Relationship Id="rId4" Type="http://schemas.openxmlformats.org/officeDocument/2006/relationships/oleObject" Target="../embeddings/oleObject6.bin"/><Relationship Id="rId5" Type="http://schemas.openxmlformats.org/officeDocument/2006/relationships/oleObject" Target="../embeddings/oleObject6.bin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ahoma"/>
              <a:buNone/>
            </a:pPr>
            <a:r>
              <a:rPr lang="en-US" sz="4800">
                <a:latin typeface="Tahoma"/>
                <a:ea typeface="Tahoma"/>
                <a:cs typeface="Tahoma"/>
                <a:sym typeface="Tahoma"/>
              </a:rPr>
              <a:t>DƯỢC LIỆU CHỨA ANTHRANOID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i="1" lang="en-US" sz="3600"/>
              <a:t>Mục tiêu học tập</a:t>
            </a:r>
            <a:endParaRPr b="1" i="1" sz="3600"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Đại cương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Khái niệm chung về anthranoid.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Khung cấu trúc của 3 nhóm anthranoid: nhóm 1,2-dihydroxy anthraquinon, nhóm 1,8-dihydroxy anthraquinon, nhóm dimer. Mỗi nhóm cho 1 ví dụ (tên chất, công thức cấu tạo, nguồn gốc)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Tính chất lý hóa của các hợp chất anthranoid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Các phương pháp định tính, định lượng anthranoid trong dược liệu.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Tác dụng, công dụng của anthranoid nhóm nhuận tẩy.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i="1" lang="en-US" sz="3600"/>
              <a:t>Mục tiêu học tập</a:t>
            </a:r>
            <a:endParaRPr b="1" i="1" sz="3600"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8116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r>
              <a:rPr lang="en-US" sz="2590"/>
              <a:t>Dược liệu chứa anthranoid</a:t>
            </a:r>
            <a:endParaRPr sz="2590"/>
          </a:p>
          <a:p>
            <a:pPr indent="-228600" lvl="0" marL="22860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Calibri"/>
              <a:buChar char="-"/>
            </a:pPr>
            <a:r>
              <a:rPr lang="en-US" sz="2590"/>
              <a:t>Các dược liệu chứa anthranoid: </a:t>
            </a:r>
            <a:r>
              <a:rPr b="1" lang="en-US" sz="2590"/>
              <a:t>Phan tả diệp</a:t>
            </a:r>
            <a:r>
              <a:rPr lang="en-US" sz="2590"/>
              <a:t>, </a:t>
            </a:r>
            <a:r>
              <a:rPr b="1" lang="en-US" sz="2590"/>
              <a:t>Các dược liệu thuộc chi </a:t>
            </a:r>
            <a:r>
              <a:rPr b="1" i="1" lang="en-US" sz="2590"/>
              <a:t>Senna</a:t>
            </a:r>
            <a:r>
              <a:rPr b="1" lang="en-US" sz="2590"/>
              <a:t> khác dùng làm thuốc</a:t>
            </a:r>
            <a:r>
              <a:rPr lang="en-US" sz="2590"/>
              <a:t> (Thảo quyết minh, Cốt khí Muồng, Muồng trâu, Ô môi: tên khoa học, bộ phận dùng, công dụng), </a:t>
            </a:r>
            <a:r>
              <a:rPr b="1" lang="en-US" sz="2590"/>
              <a:t>Đại hoàng, Hà thủ ô đỏ, Lô hội</a:t>
            </a:r>
            <a:endParaRPr sz="2590"/>
          </a:p>
          <a:p>
            <a:pPr indent="-228600" lvl="0" marL="22860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Calibri"/>
              <a:buChar char="-"/>
            </a:pPr>
            <a:r>
              <a:rPr lang="en-US" sz="2590"/>
              <a:t>Tên khoa học; Đặc điểm thực vật, phân bố; Bộ phận dùng; Thành phần hóa học chin; Kiểm nghiệm; Công dụng. </a:t>
            </a:r>
            <a:endParaRPr sz="2590"/>
          </a:p>
          <a:p>
            <a:pPr indent="0" lvl="0" marL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r>
              <a:t/>
            </a:r>
            <a:endParaRPr sz="259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1. Đặc điểm cấu trúc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80"/>
              <a:buFont typeface="Calibri"/>
              <a:buChar char="-"/>
            </a:pPr>
            <a:r>
              <a:rPr b="1" lang="en-US" sz="2380"/>
              <a:t>Dẫn chất của anthraquinone: 9, 10-anthracendion</a:t>
            </a:r>
            <a:endParaRPr/>
          </a:p>
          <a:p>
            <a:pPr indent="-7747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80"/>
              <a:buFont typeface="Calibri"/>
              <a:buNone/>
            </a:pPr>
            <a:r>
              <a:t/>
            </a:r>
            <a:endParaRPr sz="2380"/>
          </a:p>
          <a:p>
            <a:pPr indent="-7747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80"/>
              <a:buFont typeface="Calibri"/>
              <a:buNone/>
            </a:pPr>
            <a:r>
              <a:t/>
            </a:r>
            <a:endParaRPr sz="2380"/>
          </a:p>
          <a:p>
            <a:pPr indent="-7747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80"/>
              <a:buFont typeface="Calibri"/>
              <a:buNone/>
            </a:pPr>
            <a:r>
              <a:t/>
            </a:r>
            <a:endParaRPr sz="2380"/>
          </a:p>
          <a:p>
            <a:pPr indent="-7747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80"/>
              <a:buFont typeface="Calibri"/>
              <a:buNone/>
            </a:pPr>
            <a:r>
              <a:t/>
            </a:r>
            <a:endParaRPr sz="2380"/>
          </a:p>
          <a:p>
            <a:pPr indent="-7747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80"/>
              <a:buFont typeface="Calibri"/>
              <a:buNone/>
            </a:pPr>
            <a:r>
              <a:t/>
            </a:r>
            <a:endParaRPr sz="2380"/>
          </a:p>
          <a:p>
            <a:pPr indent="-7747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80"/>
              <a:buFont typeface="Calibri"/>
              <a:buNone/>
            </a:pPr>
            <a:r>
              <a:t/>
            </a:r>
            <a:endParaRPr sz="2380"/>
          </a:p>
          <a:p>
            <a:pPr indent="-2286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80"/>
              <a:buFont typeface="Calibri"/>
              <a:buChar char="-"/>
            </a:pPr>
            <a:r>
              <a:rPr b="1" lang="en-US" sz="2380"/>
              <a:t>Chia làm 3 nhóm</a:t>
            </a:r>
            <a:r>
              <a:rPr lang="en-US" sz="2380"/>
              <a:t>: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80"/>
              <a:buNone/>
            </a:pPr>
            <a:r>
              <a:rPr lang="en-US" sz="2380"/>
              <a:t>	+ 1,2-dihydroxy anthraquinone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80"/>
              <a:buNone/>
            </a:pPr>
            <a:r>
              <a:rPr lang="en-US" sz="2380"/>
              <a:t>	+ 1,8-dihydroxy anthraquinone</a:t>
            </a:r>
            <a:endParaRPr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80"/>
              <a:buNone/>
            </a:pPr>
            <a:r>
              <a:rPr lang="en-US" sz="2380"/>
              <a:t>	+ Dimer (của 1,8-dihydroxy anthraquinone)</a:t>
            </a:r>
            <a:endParaRPr/>
          </a:p>
        </p:txBody>
      </p:sp>
      <p:graphicFrame>
        <p:nvGraphicFramePr>
          <p:cNvPr id="104" name="Google Shape;104;p4"/>
          <p:cNvGraphicFramePr/>
          <p:nvPr/>
        </p:nvGraphicFramePr>
        <p:xfrm>
          <a:off x="2300288" y="2184401"/>
          <a:ext cx="7848600" cy="2106613"/>
        </p:xfrm>
        <a:graphic>
          <a:graphicData uri="http://schemas.openxmlformats.org/presentationml/2006/ole">
            <mc:AlternateContent>
              <mc:Choice Requires="v">
                <p:oleObj r:id="rId4" imgH="2106613" imgW="7848600" progId="ChemDraw.Document.6.0" spid="_x0000_s1">
                  <p:embed/>
                </p:oleObj>
              </mc:Choice>
              <mc:Fallback>
                <p:oleObj r:id="rId5" imgH="2106613" imgW="7848600" progId="ChemDraw.Document.6.0">
                  <p:embed/>
                  <p:pic>
                    <p:nvPicPr>
                      <p:cNvPr id="104" name="Google Shape;104;p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300288" y="2184401"/>
                        <a:ext cx="7848600" cy="2106613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US" sz="4000"/>
              <a:t>1.1. Dẫn chất 1,2-dihydroxy anthraquinone </a:t>
            </a:r>
            <a:endParaRPr/>
          </a:p>
        </p:txBody>
      </p:sp>
      <p:sp>
        <p:nvSpPr>
          <p:cNvPr id="110" name="Google Shape;11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Acid carminic</a:t>
            </a:r>
            <a:r>
              <a:rPr lang="en-US" sz="2400"/>
              <a:t> (ở dạng muối nhôm là carmin) : màu đỏ (bào chế, mỹ phẩm), chiết từ loài sâu </a:t>
            </a:r>
            <a:r>
              <a:rPr b="1" i="1" lang="en-US" sz="2400"/>
              <a:t>Dactylopius coccus</a:t>
            </a:r>
            <a:r>
              <a:rPr lang="en-US" sz="2400"/>
              <a:t> sống trên nhiều loài xương rồng thuộc chi </a:t>
            </a:r>
            <a:r>
              <a:rPr b="1" i="1" lang="en-US" sz="2400"/>
              <a:t>Opuntia </a:t>
            </a:r>
            <a:r>
              <a:rPr lang="en-US" sz="2400"/>
              <a:t>họ Xương rồng.</a:t>
            </a:r>
            <a:endParaRPr/>
          </a:p>
          <a:p>
            <a:pPr indent="-762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11" name="Google Shape;11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Cánh kiến đỏ</a:t>
            </a:r>
            <a:r>
              <a:rPr lang="en-US" sz="2400"/>
              <a:t> sản phẩm của sâu </a:t>
            </a:r>
            <a:r>
              <a:rPr i="1" lang="en-US" sz="2400"/>
              <a:t>Lacifer lacca</a:t>
            </a:r>
            <a:r>
              <a:rPr lang="en-US" sz="2400"/>
              <a:t> tạo ra trên cành một số cây chủ như Đậu chiều </a:t>
            </a:r>
            <a:r>
              <a:rPr i="1" lang="en-US" sz="2400"/>
              <a:t>Cajamus indicus</a:t>
            </a:r>
            <a:r>
              <a:rPr lang="en-US" sz="2400"/>
              <a:t> Spreng; cây đề </a:t>
            </a:r>
            <a:r>
              <a:rPr i="1" lang="en-US" sz="2400"/>
              <a:t>Ficus religiosa</a:t>
            </a:r>
            <a:r>
              <a:rPr lang="en-US" sz="2400"/>
              <a:t> L.). TPHH chủ yếu là nhựa (75%) để chế shellac để đánh bóng (verni) đồ gỗ … Sản phẩm phụ màu đỏ sẫm là acid laccaic A, B, C và D.</a:t>
            </a:r>
            <a:endParaRPr sz="2400"/>
          </a:p>
        </p:txBody>
      </p:sp>
      <p:sp>
        <p:nvSpPr>
          <p:cNvPr id="112" name="Google Shape;112;p5"/>
          <p:cNvSpPr txBox="1"/>
          <p:nvPr/>
        </p:nvSpPr>
        <p:spPr>
          <a:xfrm>
            <a:off x="1000124" y="4330700"/>
            <a:ext cx="978217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3" name="Google Shape;113;p5"/>
          <p:cNvGraphicFramePr/>
          <p:nvPr/>
        </p:nvGraphicFramePr>
        <p:xfrm>
          <a:off x="1409701" y="4561532"/>
          <a:ext cx="3801417" cy="2001044"/>
        </p:xfrm>
        <a:graphic>
          <a:graphicData uri="http://schemas.openxmlformats.org/presentationml/2006/ole">
            <mc:AlternateContent>
              <mc:Choice Requires="v">
                <p:oleObj r:id="rId4" imgH="2001044" imgW="3801417" progId="ChemDraw.Document.6.0" spid="_x0000_s1">
                  <p:embed/>
                </p:oleObj>
              </mc:Choice>
              <mc:Fallback>
                <p:oleObj r:id="rId5" imgH="2001044" imgW="3801417" progId="ChemDraw.Document.6.0">
                  <p:embed/>
                  <p:pic>
                    <p:nvPicPr>
                      <p:cNvPr id="113" name="Google Shape;113;p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409701" y="4561532"/>
                        <a:ext cx="3801417" cy="20010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US" sz="4000"/>
              <a:t>1.2. Dẫn chất 1,8-dihydroxy anthraquinone</a:t>
            </a:r>
            <a:br>
              <a:rPr b="1" lang="en-US" sz="4000"/>
            </a:br>
            <a:endParaRPr b="1" sz="4000"/>
          </a:p>
        </p:txBody>
      </p:sp>
      <p:graphicFrame>
        <p:nvGraphicFramePr>
          <p:cNvPr id="119" name="Google Shape;119;p6"/>
          <p:cNvGraphicFramePr/>
          <p:nvPr/>
        </p:nvGraphicFramePr>
        <p:xfrm>
          <a:off x="1685130" y="1460705"/>
          <a:ext cx="8821738" cy="1989138"/>
        </p:xfrm>
        <a:graphic>
          <a:graphicData uri="http://schemas.openxmlformats.org/presentationml/2006/ole">
            <mc:AlternateContent>
              <mc:Choice Requires="v">
                <p:oleObj r:id="rId4" imgH="1989138" imgW="8821738" progId="ChemDraw.Document.6.0" spid="_x0000_s1">
                  <p:embed/>
                </p:oleObj>
              </mc:Choice>
              <mc:Fallback>
                <p:oleObj r:id="rId5" imgH="1989138" imgW="8821738" progId="ChemDraw.Document.6.0">
                  <p:embed/>
                  <p:pic>
                    <p:nvPicPr>
                      <p:cNvPr id="119" name="Google Shape;119;p6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685130" y="1460705"/>
                        <a:ext cx="8821738" cy="1989138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" name="Google Shape;120;p6"/>
          <p:cNvGraphicFramePr/>
          <p:nvPr/>
        </p:nvGraphicFramePr>
        <p:xfrm>
          <a:off x="1925637" y="4632525"/>
          <a:ext cx="8340725" cy="2052638"/>
        </p:xfrm>
        <a:graphic>
          <a:graphicData uri="http://schemas.openxmlformats.org/presentationml/2006/ole">
            <mc:AlternateContent>
              <mc:Choice Requires="v">
                <p:oleObj r:id="rId7" imgH="2052638" imgW="8340725" progId="ChemDraw.Document.6.0" spid="_x0000_s2">
                  <p:embed/>
                </p:oleObj>
              </mc:Choice>
              <mc:Fallback>
                <p:oleObj r:id="rId8" imgH="2052638" imgW="8340725" progId="ChemDraw.Document.6.0">
                  <p:embed/>
                  <p:pic>
                    <p:nvPicPr>
                      <p:cNvPr id="120" name="Google Shape;120;p6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925637" y="4632525"/>
                        <a:ext cx="8340725" cy="2052638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" name="Google Shape;121;p6"/>
          <p:cNvSpPr txBox="1"/>
          <p:nvPr/>
        </p:nvSpPr>
        <p:spPr>
          <a:xfrm>
            <a:off x="838200" y="3634371"/>
            <a:ext cx="10894454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Dẫn chất anthranoid có thể tồn tại trong thực vật dưới dạng oxy hóa (anthraquinon) hoặc dạng khử (anthron, anthranol)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1.3. Dimer</a:t>
            </a:r>
            <a:endParaRPr/>
          </a:p>
        </p:txBody>
      </p:sp>
      <p:graphicFrame>
        <p:nvGraphicFramePr>
          <p:cNvPr id="127" name="Google Shape;127;p7"/>
          <p:cNvGraphicFramePr/>
          <p:nvPr/>
        </p:nvGraphicFramePr>
        <p:xfrm>
          <a:off x="277814" y="2193131"/>
          <a:ext cx="7542553" cy="3427412"/>
        </p:xfrm>
        <a:graphic>
          <a:graphicData uri="http://schemas.openxmlformats.org/presentationml/2006/ole">
            <mc:AlternateContent>
              <mc:Choice Requires="v">
                <p:oleObj r:id="rId4" imgH="3427412" imgW="7542553" progId="ChemDraw.Document.6.0" spid="_x0000_s1">
                  <p:embed/>
                </p:oleObj>
              </mc:Choice>
              <mc:Fallback>
                <p:oleObj r:id="rId5" imgH="3427412" imgW="7542553" progId="ChemDraw.Document.6.0">
                  <p:embed/>
                  <p:pic>
                    <p:nvPicPr>
                      <p:cNvPr id="127" name="Google Shape;127;p7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77814" y="2193131"/>
                        <a:ext cx="7542553" cy="3427412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" name="Google Shape;128;p7"/>
          <p:cNvSpPr txBox="1"/>
          <p:nvPr/>
        </p:nvSpPr>
        <p:spPr>
          <a:xfrm>
            <a:off x="8308972" y="1435426"/>
            <a:ext cx="3425828" cy="4627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3970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-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Dẫn chất anthranoid dimer do 2 phân tử ở dạng anthron bị oxy hóa rồi trùng hợp tạo dianthron.</a:t>
            </a:r>
            <a:endParaRPr/>
          </a:p>
          <a:p>
            <a:pPr indent="-139700" lvl="0" marL="0" marR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-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Khi tạo dimer nếu 2 nửa phân tử giống nhau gọi </a:t>
            </a: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homodianthron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(sennosid A, B), khác nhau gọi là </a:t>
            </a: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heterodianthron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(sennosid C, rheidin A)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2. Tính chất lý - hóa</a:t>
            </a:r>
            <a:endParaRPr/>
          </a:p>
        </p:txBody>
      </p:sp>
      <p:sp>
        <p:nvSpPr>
          <p:cNvPr id="134" name="Google Shape;134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n-US"/>
              <a:t>Thể chất: rắn, dễ thăng hoa → định tính bằng vi thăng hoa anthraquinon trên lam kính.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n-US"/>
              <a:t>Màu sắc: đều có màu từ vàng, vàng cam đến đỏ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n-US"/>
              <a:t>Mùi vị: không mùi, vị đắng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n-US"/>
              <a:t>Tính tan: Dạng glycosid tan trong nước, dạng tự do (aglycon) tan trong dung môi hữu cơ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2. Tính chất lý - hóa</a:t>
            </a:r>
            <a:endParaRPr/>
          </a:p>
        </p:txBody>
      </p:sp>
      <p:sp>
        <p:nvSpPr>
          <p:cNvPr id="140" name="Google Shape;140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en-US" sz="2590"/>
              <a:t>Dẫn chất oxyanthraquinon (có 1 nhóm OH vị trí α) cho màu với Mg(CH</a:t>
            </a:r>
            <a:r>
              <a:rPr baseline="-25000" lang="en-US" sz="2590"/>
              <a:t>3</a:t>
            </a:r>
            <a:r>
              <a:rPr lang="en-US" sz="2590"/>
              <a:t>COO)</a:t>
            </a:r>
            <a:r>
              <a:rPr baseline="-25000" lang="en-US" sz="2590"/>
              <a:t>2</a:t>
            </a:r>
            <a:r>
              <a:rPr lang="en-US" sz="2590"/>
              <a:t>/EtOH, 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Calibri"/>
              <a:buNone/>
            </a:pPr>
            <a:r>
              <a:rPr lang="en-US" sz="2590"/>
              <a:t>Ví dụ : 	1,2-dihydroxy cho màu tím</a:t>
            </a:r>
            <a:endParaRPr sz="2590"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Calibri"/>
              <a:buNone/>
            </a:pPr>
            <a:r>
              <a:rPr lang="en-US" sz="2590"/>
              <a:t>			1,4-dihydroxy cho màu tía</a:t>
            </a:r>
            <a:endParaRPr sz="2590"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Calibri"/>
              <a:buNone/>
            </a:pPr>
            <a:r>
              <a:rPr lang="en-US" sz="2590"/>
              <a:t>			1,6 và 1,8-dihydroxy cho màu đỏ cam.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en-US" sz="2590"/>
              <a:t>Dẫn chất 1,8-dihydroxyanthraquinone: Phản ứng Börntraeger</a:t>
            </a:r>
            <a:endParaRPr sz="2590"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Calibri"/>
              <a:buNone/>
            </a:pPr>
            <a:r>
              <a:rPr lang="en-US" sz="2590"/>
              <a:t>	Trong dung dịch kiềm tạo phenolat có màu đỏ, dưới UV cho huỳnh quang tím hoặc đỏ nâu.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Calibri"/>
              <a:buNone/>
            </a:pPr>
            <a:r>
              <a:t/>
            </a:r>
            <a:endParaRPr sz="259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i="1" lang="en-US" sz="3600"/>
              <a:t>3. Định tính, định lượng anthranoid trong dược liệu </a:t>
            </a:r>
            <a:endParaRPr/>
          </a:p>
        </p:txBody>
      </p:sp>
      <p:sp>
        <p:nvSpPr>
          <p:cNvPr id="146" name="Google Shape;146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0"/>
              <a:buNone/>
            </a:pPr>
            <a:r>
              <a:rPr i="1" lang="en-US" sz="2220"/>
              <a:t>3.1 Định tính</a:t>
            </a:r>
            <a:endParaRPr i="1" sz="2220"/>
          </a:p>
          <a:p>
            <a:pPr indent="-228600" lvl="0" marL="2286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Calibri"/>
              <a:buChar char="-"/>
            </a:pPr>
            <a:r>
              <a:rPr lang="en-US" sz="2220"/>
              <a:t>Anthranoid tồn tại trong thiên nhiên dưới 2 dạng: </a:t>
            </a:r>
            <a:r>
              <a:rPr b="1" i="1" lang="en-US" sz="2220"/>
              <a:t>dạng tự do và dạng kết hợp</a:t>
            </a:r>
            <a:r>
              <a:rPr lang="en-US" sz="2220"/>
              <a:t>.</a:t>
            </a:r>
            <a:endParaRPr/>
          </a:p>
          <a:p>
            <a:pPr indent="-228600" lvl="0" marL="2286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Calibri"/>
              <a:buChar char="-"/>
            </a:pPr>
            <a:r>
              <a:rPr lang="en-US" sz="2220"/>
              <a:t>Định tính: 2 dạng tồn tại trên bằng phản ứng hóa học và TLC.</a:t>
            </a:r>
            <a:endParaRPr/>
          </a:p>
          <a:p>
            <a:pPr indent="-228600" lvl="0" marL="2286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Calibri"/>
              <a:buChar char="-"/>
            </a:pPr>
            <a:r>
              <a:rPr lang="en-US" sz="2220"/>
              <a:t>TLC: thuốc thử phát hiện: KOH/EtOH (ánh sáng thường và UV) hoặc Mg(CH</a:t>
            </a:r>
            <a:r>
              <a:rPr baseline="-25000" lang="en-US" sz="2220"/>
              <a:t>3</a:t>
            </a:r>
            <a:r>
              <a:rPr lang="en-US" sz="2220"/>
              <a:t>COO)</a:t>
            </a:r>
            <a:r>
              <a:rPr baseline="-25000" lang="en-US" sz="2220"/>
              <a:t>2</a:t>
            </a:r>
            <a:r>
              <a:rPr lang="en-US" sz="2220"/>
              <a:t>/EtOH</a:t>
            </a:r>
            <a:endParaRPr sz="2220"/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0"/>
              <a:buNone/>
            </a:pPr>
            <a:r>
              <a:rPr i="1" lang="en-US" sz="2220"/>
              <a:t>3.2. Định lượng</a:t>
            </a:r>
            <a:endParaRPr i="1" sz="2220"/>
          </a:p>
          <a:p>
            <a:pPr indent="-228600" lvl="0" marL="2286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Calibri"/>
              <a:buChar char="-"/>
            </a:pPr>
            <a:r>
              <a:rPr lang="en-US" sz="2220"/>
              <a:t>Phương pháp cân</a:t>
            </a:r>
            <a:endParaRPr sz="2220"/>
          </a:p>
          <a:p>
            <a:pPr indent="-228600" lvl="0" marL="2286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Calibri"/>
              <a:buChar char="-"/>
            </a:pPr>
            <a:r>
              <a:rPr lang="en-US" sz="2220"/>
              <a:t>Phương pháp so màu: Auterhoff</a:t>
            </a:r>
            <a:endParaRPr sz="2220"/>
          </a:p>
          <a:p>
            <a:pPr indent="-228600" lvl="0" marL="2286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Calibri"/>
              <a:buChar char="-"/>
            </a:pPr>
            <a:r>
              <a:rPr lang="en-US" sz="2220"/>
              <a:t>Phương pháp đo màu sử dụng Mg acetat</a:t>
            </a:r>
            <a:endParaRPr sz="2220"/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0"/>
              <a:buNone/>
            </a:pPr>
            <a:r>
              <a:rPr i="1" lang="en-US" sz="2220"/>
              <a:t>3.3. Chiết xuất</a:t>
            </a:r>
            <a:endParaRPr i="1" sz="222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2" name="Google Shape;152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en-US" sz="2590"/>
              <a:t>Câu hỏi. Nếu 1 dược liệu chứa anthranoid ở 2 dạng tự do (= dạng aglycon) và kết hợp (= dạng glycoside), làm thế nào có thể định tính 2 dạng anthranoid này bằng phản ứng Borntraeger?</a:t>
            </a:r>
            <a:endParaRPr/>
          </a:p>
          <a:p>
            <a:pPr indent="-228600" lvl="0" marL="22860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en-US" sz="2590"/>
              <a:t>Chú ý: phản ứng Borntraeger cho kết quả dương tính khi anthranoid ở dạng anthraquinon.</a:t>
            </a:r>
            <a:endParaRPr/>
          </a:p>
          <a:p>
            <a:pPr indent="-228600" lvl="0" marL="22860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en-US" sz="2590"/>
              <a:t>Không có dạng toàn phần, mà chỉ có anthranoid toàn phần = dạng tự do + dạng kết hợp.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r>
              <a:t/>
            </a:r>
            <a:endParaRPr sz="259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r>
              <a:t/>
            </a:r>
            <a:endParaRPr sz="259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4400"/>
              <a:buFont typeface="Calibri"/>
              <a:buNone/>
            </a:pPr>
            <a:r>
              <a:rPr lang="en-US">
                <a:solidFill>
                  <a:srgbClr val="FF3300"/>
                </a:solidFill>
              </a:rPr>
              <a:t>CHIẾT XUẤT</a:t>
            </a:r>
            <a:endParaRPr/>
          </a:p>
        </p:txBody>
      </p:sp>
      <p:sp>
        <p:nvSpPr>
          <p:cNvPr id="158" name="Google Shape;158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Chiết dạng glycosid dùng cồn EtOH, MeOH hoặc hỗn hợp cồn - nước.</a:t>
            </a:r>
            <a:endParaRPr/>
          </a:p>
          <a:p>
            <a:pPr indent="-2286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Chiết dạng aglycon, thủy phân bằng acid sau đó chiết bằng ether hoặc chloroform.</a:t>
            </a:r>
            <a:endParaRPr/>
          </a:p>
          <a:p>
            <a:pPr indent="-2286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Chiết dạng oxi hóa phải chuyển anthranoid dạng khử sang dạng oxi hóa.</a:t>
            </a:r>
            <a:endParaRPr/>
          </a:p>
          <a:p>
            <a:pPr indent="-2286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Chú ý: Anthranoid tồn tại trong tự nhiên dạng tự do (aglycon); dạng toàn phần (aglycon và glycosid).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"/>
          <p:cNvSpPr/>
          <p:nvPr/>
        </p:nvSpPr>
        <p:spPr>
          <a:xfrm>
            <a:off x="876300" y="1633538"/>
            <a:ext cx="10238168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Phương pháp cân (DĐ Liên xô áp dụng để định lượng nhóm oxymethylanthraquinon trong Đại hoàng, …) </a:t>
            </a:r>
            <a:endParaRPr/>
          </a:p>
          <a:p>
            <a:pPr indent="-609600" lvl="0" marL="609600" marR="0" rtl="0" algn="l">
              <a:lnSpc>
                <a:spcPct val="13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Phương pháp so màu: dựa trên phản ứng màu Borntraeger = Phương pháp Auterhoff. Đường cong chuẩn được xây dựng với chất chuẩn istizin (1,8-dihydroanthraquinon) hay acid chrysophanic, dung dịch cobalt chlorid. </a:t>
            </a:r>
            <a:endParaRPr/>
          </a:p>
          <a:p>
            <a:pPr indent="-609600" lvl="0" marL="609600" marR="0" rtl="0" algn="l">
              <a:lnSpc>
                <a:spcPct val="13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Phương pháp thể tích: dùng KOH 0,1N tác dụng với dẫn chất anthraquinon sau đó chuẩn độ kiềm dư bằng HCl 0,1N (phương pháp này ít dùng vì thiếu chính xác)</a:t>
            </a:r>
            <a:endParaRPr/>
          </a:p>
          <a:p>
            <a:pPr indent="-609600" lvl="0" marL="609600" marR="0" rtl="0" algn="l">
              <a:lnSpc>
                <a:spcPct val="13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3"/>
          <p:cNvSpPr/>
          <p:nvPr/>
        </p:nvSpPr>
        <p:spPr>
          <a:xfrm>
            <a:off x="2135188" y="1158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ĐỊNH LƯỢNG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Dẫn chất anthranoid dễ hòa tan trong nước, không hấp thu và không bị thủy phân ở ruột non. Ở ruột già, anthraquinon bị khử thành dạng anthron và anthranol có tác dụng tẩy xổ (liều thấp, liều cao).</a:t>
            </a:r>
            <a:endParaRPr/>
          </a:p>
          <a:p>
            <a:pPr indent="-2286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Dẫn chất anthranoid có tác dụng thông mật.</a:t>
            </a:r>
            <a:endParaRPr/>
          </a:p>
          <a:p>
            <a:pPr indent="-228600" lvl="0" marL="2286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Dẫn chất anthranoid có tác dụng kích thích miễn dịch, chống ung thư</a:t>
            </a:r>
            <a:endParaRPr/>
          </a:p>
        </p:txBody>
      </p:sp>
      <p:sp>
        <p:nvSpPr>
          <p:cNvPr id="170" name="Google Shape;170;p14"/>
          <p:cNvSpPr/>
          <p:nvPr/>
        </p:nvSpPr>
        <p:spPr>
          <a:xfrm>
            <a:off x="2135188" y="1158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TÁC DỤNG DƯỢC LÝ VÀ CÔNG DỤNG</a:t>
            </a:r>
            <a:endParaRPr/>
          </a:p>
        </p:txBody>
      </p:sp>
      <p:graphicFrame>
        <p:nvGraphicFramePr>
          <p:cNvPr id="171" name="Google Shape;171;p14"/>
          <p:cNvGraphicFramePr/>
          <p:nvPr/>
        </p:nvGraphicFramePr>
        <p:xfrm>
          <a:off x="4983164" y="4941889"/>
          <a:ext cx="3165475" cy="1660525"/>
        </p:xfrm>
        <a:graphic>
          <a:graphicData uri="http://schemas.openxmlformats.org/presentationml/2006/ole">
            <mc:AlternateContent>
              <mc:Choice Requires="v">
                <p:oleObj r:id="rId4" imgH="1660525" imgW="3165475" progId="ChemDraw.Document.6.0" spid="_x0000_s1">
                  <p:embed/>
                </p:oleObj>
              </mc:Choice>
              <mc:Fallback>
                <p:oleObj r:id="rId5" imgH="1660525" imgW="3165475" progId="ChemDraw.Document.6.0">
                  <p:embed/>
                  <p:pic>
                    <p:nvPicPr>
                      <p:cNvPr id="171" name="Google Shape;171;p1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983164" y="4941889"/>
                        <a:ext cx="3165475" cy="166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2" name="Google Shape;172;p14"/>
          <p:cNvSpPr txBox="1"/>
          <p:nvPr/>
        </p:nvSpPr>
        <p:spPr>
          <a:xfrm>
            <a:off x="8293100" y="5819776"/>
            <a:ext cx="23749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CC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Doxorubicine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2019-08-28T07:24:12Z</dcterms:created>
  <dc:creator>Do Quyen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0x0101009D02FCBBE7D05245917CF4C68344B293</vt:lpwstr>
  </property>
</Properties>
</file>